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80" r:id="rId9"/>
    <p:sldId id="278" r:id="rId10"/>
    <p:sldId id="262" r:id="rId11"/>
    <p:sldId id="275" r:id="rId12"/>
    <p:sldId id="281" r:id="rId13"/>
    <p:sldId id="263" r:id="rId14"/>
    <p:sldId id="282" r:id="rId15"/>
    <p:sldId id="279" r:id="rId16"/>
    <p:sldId id="268" r:id="rId17"/>
    <p:sldId id="283" r:id="rId18"/>
    <p:sldId id="270" r:id="rId19"/>
  </p:sldIdLst>
  <p:sldSz cx="24384000" cy="13716000"/>
  <p:notesSz cx="6858000" cy="9144000"/>
  <p:embeddedFontLst>
    <p:embeddedFont>
      <p:font typeface="Helvetica Neue" panose="020B0604020202020204" charset="0"/>
      <p:regular r:id="rId21"/>
      <p:bold r:id="rId22"/>
      <p:italic r:id="rId23"/>
      <p:boldItalic r:id="rId24"/>
    </p:embeddedFont>
    <p:embeddedFont>
      <p:font typeface="Magneto" panose="04030805050802020D02" pitchFamily="82" charset="0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5FFC0D09-5764-4B92-A950-C6F1C72C4383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658231B4-FB7B-4636-AB99-906F12DCD94B}">
          <p14:sldIdLst>
            <p14:sldId id="274"/>
            <p14:sldId id="280"/>
            <p14:sldId id="278"/>
            <p14:sldId id="262"/>
            <p14:sldId id="275"/>
            <p14:sldId id="281"/>
            <p14:sldId id="263"/>
            <p14:sldId id="282"/>
            <p14:sldId id="279"/>
            <p14:sldId id="268"/>
            <p14:sldId id="283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oJ511EMnYNe7VAzbopb3bC5Tj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33" d="100"/>
          <a:sy n="33" d="100"/>
        </p:scale>
        <p:origin x="1195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75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c379c7b1_0_5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bc379c7b1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bc379c7b1_0_5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6bc379c7b1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bc379c7b1_0_5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6bc379c7b1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bc379c7b1_0_5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6bc379c7b1_0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bc379c7b1_0_57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6bc379c7b1_0_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bc379c7b1_0_58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6bc379c7b1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A71E241-8F39-7D06-17DE-211CA028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bc379c7b1_0_584:notes">
            <a:extLst>
              <a:ext uri="{FF2B5EF4-FFF2-40B4-BE49-F238E27FC236}">
                <a16:creationId xmlns:a16="http://schemas.microsoft.com/office/drawing/2014/main" id="{F88F3848-DF43-964B-FF46-9CDFD4E77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6bc379c7b1_0_584:notes">
            <a:extLst>
              <a:ext uri="{FF2B5EF4-FFF2-40B4-BE49-F238E27FC236}">
                <a16:creationId xmlns:a16="http://schemas.microsoft.com/office/drawing/2014/main" id="{48015BBC-3270-0AB6-598A-F6FC93E22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4193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A71E241-8F39-7D06-17DE-211CA028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bc379c7b1_0_584:notes">
            <a:extLst>
              <a:ext uri="{FF2B5EF4-FFF2-40B4-BE49-F238E27FC236}">
                <a16:creationId xmlns:a16="http://schemas.microsoft.com/office/drawing/2014/main" id="{F88F3848-DF43-964B-FF46-9CDFD4E77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6bc379c7b1_0_584:notes">
            <a:extLst>
              <a:ext uri="{FF2B5EF4-FFF2-40B4-BE49-F238E27FC236}">
                <a16:creationId xmlns:a16="http://schemas.microsoft.com/office/drawing/2014/main" id="{48015BBC-3270-0AB6-598A-F6FC93E22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8542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0FB4563-A4BB-9240-D7DB-3C749D9FA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bc379c7b1_0_596:notes">
            <a:extLst>
              <a:ext uri="{FF2B5EF4-FFF2-40B4-BE49-F238E27FC236}">
                <a16:creationId xmlns:a16="http://schemas.microsoft.com/office/drawing/2014/main" id="{A4605BC5-DE66-E893-959D-5F032A7719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6bc379c7b1_0_596:notes">
            <a:extLst>
              <a:ext uri="{FF2B5EF4-FFF2-40B4-BE49-F238E27FC236}">
                <a16:creationId xmlns:a16="http://schemas.microsoft.com/office/drawing/2014/main" id="{E2648F80-C0F1-84B0-7C36-DC6DEF952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3708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bc379c7b1_0_59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6bc379c7b1_0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74AEBFB4-EB04-4CCB-BF04-B9967EDB7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bc379c7b1_0_590:notes">
            <a:extLst>
              <a:ext uri="{FF2B5EF4-FFF2-40B4-BE49-F238E27FC236}">
                <a16:creationId xmlns:a16="http://schemas.microsoft.com/office/drawing/2014/main" id="{E27C8CC1-AE7A-148A-9BBA-4D70BD6ED0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6bc379c7b1_0_590:notes">
            <a:extLst>
              <a:ext uri="{FF2B5EF4-FFF2-40B4-BE49-F238E27FC236}">
                <a16:creationId xmlns:a16="http://schemas.microsoft.com/office/drawing/2014/main" id="{A90BF103-CC3D-9E8C-CFA9-3D12CF872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9278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A71E241-8F39-7D06-17DE-211CA028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bc379c7b1_0_584:notes">
            <a:extLst>
              <a:ext uri="{FF2B5EF4-FFF2-40B4-BE49-F238E27FC236}">
                <a16:creationId xmlns:a16="http://schemas.microsoft.com/office/drawing/2014/main" id="{F88F3848-DF43-964B-FF46-9CDFD4E77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6bc379c7b1_0_584:notes">
            <a:extLst>
              <a:ext uri="{FF2B5EF4-FFF2-40B4-BE49-F238E27FC236}">
                <a16:creationId xmlns:a16="http://schemas.microsoft.com/office/drawing/2014/main" id="{48015BBC-3270-0AB6-598A-F6FC93E22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1327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bc379c7b1_0_59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6bc379c7b1_0_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A71E241-8F39-7D06-17DE-211CA028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bc379c7b1_0_584:notes">
            <a:extLst>
              <a:ext uri="{FF2B5EF4-FFF2-40B4-BE49-F238E27FC236}">
                <a16:creationId xmlns:a16="http://schemas.microsoft.com/office/drawing/2014/main" id="{F88F3848-DF43-964B-FF46-9CDFD4E77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6bc379c7b1_0_584:notes">
            <a:extLst>
              <a:ext uri="{FF2B5EF4-FFF2-40B4-BE49-F238E27FC236}">
                <a16:creationId xmlns:a16="http://schemas.microsoft.com/office/drawing/2014/main" id="{48015BBC-3270-0AB6-598A-F6FC93E22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0201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2CFC5BB3-D4F8-32A1-D3D9-14C97D53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bc379c7b1_0_596:notes">
            <a:extLst>
              <a:ext uri="{FF2B5EF4-FFF2-40B4-BE49-F238E27FC236}">
                <a16:creationId xmlns:a16="http://schemas.microsoft.com/office/drawing/2014/main" id="{6530758D-07C3-4E78-1F16-483AEAF2C5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6bc379c7b1_0_596:notes">
            <a:extLst>
              <a:ext uri="{FF2B5EF4-FFF2-40B4-BE49-F238E27FC236}">
                <a16:creationId xmlns:a16="http://schemas.microsoft.com/office/drawing/2014/main" id="{84B3B07C-486F-9C0A-23D1-E3EAFEC627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7508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bc379c7b1_0_6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6bc379c7b1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bc379c7b1_0_6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6bc379c7b1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78180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bc379c7b1_0_6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6bc379c7b1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bc379c7b1_10_63"/>
          <p:cNvSpPr txBox="1">
            <a:spLocks noGrp="1"/>
          </p:cNvSpPr>
          <p:nvPr>
            <p:ph type="body" idx="1"/>
          </p:nvPr>
        </p:nvSpPr>
        <p:spPr>
          <a:xfrm>
            <a:off x="1201340" y="11859862"/>
            <a:ext cx="219711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g36bc379c7b1_10_63"/>
          <p:cNvSpPr txBox="1">
            <a:spLocks noGrp="1"/>
          </p:cNvSpPr>
          <p:nvPr>
            <p:ph type="title"/>
          </p:nvPr>
        </p:nvSpPr>
        <p:spPr>
          <a:xfrm>
            <a:off x="1206496" y="2574991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6bc379c7b1_10_63"/>
          <p:cNvSpPr txBox="1">
            <a:spLocks noGrp="1"/>
          </p:cNvSpPr>
          <p:nvPr>
            <p:ph type="body" idx="2"/>
          </p:nvPr>
        </p:nvSpPr>
        <p:spPr>
          <a:xfrm>
            <a:off x="1201342" y="7223190"/>
            <a:ext cx="219711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t="388" r="85449" b="9056"/>
          <a:stretch/>
        </p:blipFill>
        <p:spPr>
          <a:xfrm>
            <a:off x="153721" y="-43900"/>
            <a:ext cx="1996582" cy="223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l="50059" r="34355" b="9675"/>
          <a:stretch/>
        </p:blipFill>
        <p:spPr>
          <a:xfrm>
            <a:off x="22190187" y="213870"/>
            <a:ext cx="1649695" cy="172065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6bc379c7b1_10_6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6bc379c7b1_10_7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6bc379c7b1_10_7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36bc379c7b1_10_7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36bc379c7b1_10_7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">
  <p:cSld name="Title &amp; Phot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6bc379c7b1_10_75"/>
          <p:cNvSpPr>
            <a:spLocks noGrp="1"/>
          </p:cNvSpPr>
          <p:nvPr>
            <p:ph type="pic" idx="2"/>
          </p:nvPr>
        </p:nvSpPr>
        <p:spPr>
          <a:xfrm>
            <a:off x="-1155700" y="-1295400"/>
            <a:ext cx="26746200" cy="160188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g36bc379c7b1_10_75"/>
          <p:cNvSpPr txBox="1">
            <a:spLocks noGrp="1"/>
          </p:cNvSpPr>
          <p:nvPr>
            <p:ph type="title"/>
          </p:nvPr>
        </p:nvSpPr>
        <p:spPr>
          <a:xfrm>
            <a:off x="1206500" y="71247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6bc379c7b1_10_75"/>
          <p:cNvSpPr txBox="1">
            <a:spLocks noGrp="1"/>
          </p:cNvSpPr>
          <p:nvPr>
            <p:ph type="body" idx="1"/>
          </p:nvPr>
        </p:nvSpPr>
        <p:spPr>
          <a:xfrm>
            <a:off x="1207690" y="1106137"/>
            <a:ext cx="219687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g36bc379c7b1_10_75"/>
          <p:cNvSpPr txBox="1">
            <a:spLocks noGrp="1"/>
          </p:cNvSpPr>
          <p:nvPr>
            <p:ph type="body" idx="3"/>
          </p:nvPr>
        </p:nvSpPr>
        <p:spPr>
          <a:xfrm>
            <a:off x="1206500" y="11609910"/>
            <a:ext cx="219711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g36bc379c7b1_10_7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 Alt">
  <p:cSld name="Title &amp; Photo Al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6bc379c7b1_10_81"/>
          <p:cNvSpPr>
            <a:spLocks noGrp="1"/>
          </p:cNvSpPr>
          <p:nvPr>
            <p:ph type="pic" idx="2"/>
          </p:nvPr>
        </p:nvSpPr>
        <p:spPr>
          <a:xfrm>
            <a:off x="10972800" y="-203200"/>
            <a:ext cx="12144900" cy="141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g36bc379c7b1_10_81"/>
          <p:cNvSpPr txBox="1">
            <a:spLocks noGrp="1"/>
          </p:cNvSpPr>
          <p:nvPr>
            <p:ph type="title"/>
          </p:nvPr>
        </p:nvSpPr>
        <p:spPr>
          <a:xfrm>
            <a:off x="1206500" y="1270000"/>
            <a:ext cx="9779100" cy="58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6bc379c7b1_10_81"/>
          <p:cNvSpPr txBox="1">
            <a:spLocks noGrp="1"/>
          </p:cNvSpPr>
          <p:nvPr>
            <p:ph type="body" idx="1"/>
          </p:nvPr>
        </p:nvSpPr>
        <p:spPr>
          <a:xfrm>
            <a:off x="1206500" y="7060576"/>
            <a:ext cx="9779100" cy="53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g36bc379c7b1_10_81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llets">
  <p:cSld name="Bulle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6bc379c7b1_10_86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6bc379c7b1_10_8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Photo">
  <p:cSld name="Title, Bullets &amp; Phot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6bc379c7b1_10_89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36bc379c7b1_10_89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g36bc379c7b1_10_89"/>
          <p:cNvSpPr>
            <a:spLocks noGrp="1"/>
          </p:cNvSpPr>
          <p:nvPr>
            <p:ph type="pic" idx="3"/>
          </p:nvPr>
        </p:nvSpPr>
        <p:spPr>
          <a:xfrm>
            <a:off x="12192000" y="-407266"/>
            <a:ext cx="10917000" cy="145557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g36bc379c7b1_10_89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36bc379c7b1_10_8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Small">
  <p:cSld name="Title, Bullets &amp; Live Video Small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bc379c7b1_10_95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g36bc379c7b1_10_95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g36bc379c7b1_10_95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6bc379c7b1_10_9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Large">
  <p:cSld name="Title, Bullets &amp; Live Video Larg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bc379c7b1_10_10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36bc379c7b1_10_10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36bc379c7b1_10_10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6bc379c7b1_10_10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">
  <p:cSld name="Sec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bc379c7b1_10_105"/>
          <p:cNvSpPr txBox="1">
            <a:spLocks noGrp="1"/>
          </p:cNvSpPr>
          <p:nvPr>
            <p:ph type="title"/>
          </p:nvPr>
        </p:nvSpPr>
        <p:spPr>
          <a:xfrm>
            <a:off x="1206496" y="45339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 b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36bc379c7b1_10_105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c379c7b1_10_108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6bc379c7b1_10_108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g36bc379c7b1_10_1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>
  <p:cSld name="Agenda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c379c7b1_10_112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6bc379c7b1_10_112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g36bc379c7b1_10_112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marL="1371600" lvl="2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marL="1828800" lvl="3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g36bc379c7b1_10_112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">
  <p:cSld name="Statem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bc379c7b1_10_117"/>
          <p:cNvSpPr txBox="1">
            <a:spLocks noGrp="1"/>
          </p:cNvSpPr>
          <p:nvPr>
            <p:ph type="body" idx="1"/>
          </p:nvPr>
        </p:nvSpPr>
        <p:spPr>
          <a:xfrm>
            <a:off x="1206500" y="4920843"/>
            <a:ext cx="219711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g36bc379c7b1_10_11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Fact">
  <p:cSld name="Big Fa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c379c7b1_10_120"/>
          <p:cNvSpPr txBox="1">
            <a:spLocks noGrp="1"/>
          </p:cNvSpPr>
          <p:nvPr>
            <p:ph type="body" idx="1"/>
          </p:nvPr>
        </p:nvSpPr>
        <p:spPr>
          <a:xfrm>
            <a:off x="1206500" y="1075927"/>
            <a:ext cx="21971100" cy="7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g36bc379c7b1_10_120"/>
          <p:cNvSpPr txBox="1">
            <a:spLocks noGrp="1"/>
          </p:cNvSpPr>
          <p:nvPr>
            <p:ph type="body" idx="2"/>
          </p:nvPr>
        </p:nvSpPr>
        <p:spPr>
          <a:xfrm>
            <a:off x="1206500" y="8262180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36bc379c7b1_10_12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bc379c7b1_10_124"/>
          <p:cNvSpPr txBox="1">
            <a:spLocks noGrp="1"/>
          </p:cNvSpPr>
          <p:nvPr>
            <p:ph type="body" idx="1"/>
          </p:nvPr>
        </p:nvSpPr>
        <p:spPr>
          <a:xfrm>
            <a:off x="2430025" y="10675453"/>
            <a:ext cx="202002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g36bc379c7b1_10_124"/>
          <p:cNvSpPr txBox="1">
            <a:spLocks noGrp="1"/>
          </p:cNvSpPr>
          <p:nvPr>
            <p:ph type="body" idx="2"/>
          </p:nvPr>
        </p:nvSpPr>
        <p:spPr>
          <a:xfrm>
            <a:off x="1753923" y="4939860"/>
            <a:ext cx="20876100" cy="3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36bc379c7b1_10_124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3 Up">
  <p:cSld name="Photo - 3 Up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bc379c7b1_10_128"/>
          <p:cNvSpPr>
            <a:spLocks noGrp="1"/>
          </p:cNvSpPr>
          <p:nvPr>
            <p:ph type="pic" idx="2"/>
          </p:nvPr>
        </p:nvSpPr>
        <p:spPr>
          <a:xfrm>
            <a:off x="15760700" y="1016000"/>
            <a:ext cx="7439100" cy="59496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g36bc379c7b1_10_128"/>
          <p:cNvSpPr>
            <a:spLocks noGrp="1"/>
          </p:cNvSpPr>
          <p:nvPr>
            <p:ph type="pic" idx="3"/>
          </p:nvPr>
        </p:nvSpPr>
        <p:spPr>
          <a:xfrm>
            <a:off x="13500100" y="3978275"/>
            <a:ext cx="10439400" cy="121503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g36bc379c7b1_10_128"/>
          <p:cNvSpPr>
            <a:spLocks noGrp="1"/>
          </p:cNvSpPr>
          <p:nvPr>
            <p:ph type="pic" idx="4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g36bc379c7b1_10_12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">
  <p:cSld name="Phot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bc379c7b1_10_133"/>
          <p:cNvSpPr>
            <a:spLocks noGrp="1"/>
          </p:cNvSpPr>
          <p:nvPr>
            <p:ph type="pic" idx="2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g36bc379c7b1_10_13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bc379c7b1_10_13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bc379c7b1_10_57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g36bc379c7b1_10_57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03503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" name="Google Shape;8;g36bc379c7b1_10_57" descr="pasted-movie.heif"/>
          <p:cNvPicPr preferRelativeResize="0"/>
          <p:nvPr/>
        </p:nvPicPr>
        <p:blipFill rotWithShape="1">
          <a:blip r:embed="rId19">
            <a:alphaModFix/>
          </a:blip>
          <a:srcRect t="388" r="85220" b="388"/>
          <a:stretch/>
        </p:blipFill>
        <p:spPr>
          <a:xfrm>
            <a:off x="67789" y="52176"/>
            <a:ext cx="1490826" cy="1801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g36bc379c7b1_10_57" descr="pasted-movie.heif"/>
          <p:cNvPicPr preferRelativeResize="0"/>
          <p:nvPr/>
        </p:nvPicPr>
        <p:blipFill rotWithShape="1">
          <a:blip r:embed="rId20">
            <a:alphaModFix/>
          </a:blip>
          <a:srcRect l="50059" r="33607"/>
          <a:stretch/>
        </p:blipFill>
        <p:spPr>
          <a:xfrm>
            <a:off x="22617501" y="39476"/>
            <a:ext cx="1658035" cy="182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6bc379c7b1_10_5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c379c7b1_0_551"/>
          <p:cNvSpPr txBox="1">
            <a:spLocks noGrp="1"/>
          </p:cNvSpPr>
          <p:nvPr>
            <p:ph type="body" idx="1"/>
          </p:nvPr>
        </p:nvSpPr>
        <p:spPr>
          <a:xfrm>
            <a:off x="13168544" y="7605691"/>
            <a:ext cx="10483935" cy="364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Meganathan 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g36bc379c7b1_0_551"/>
          <p:cNvSpPr txBox="1">
            <a:spLocks noGrp="1"/>
          </p:cNvSpPr>
          <p:nvPr>
            <p:ph type="title"/>
          </p:nvPr>
        </p:nvSpPr>
        <p:spPr>
          <a:xfrm>
            <a:off x="2182994" y="3833071"/>
            <a:ext cx="21971100" cy="255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lvl="0" algn="ctr">
              <a:buClr>
                <a:schemeClr val="accent1"/>
              </a:buClr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Lost &amp; Found Portal: A Java-Based Item Recovery and Management System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g36bc379c7b1_0_551"/>
          <p:cNvSpPr txBox="1">
            <a:spLocks noGrp="1"/>
          </p:cNvSpPr>
          <p:nvPr>
            <p:ph type="body" idx="2"/>
          </p:nvPr>
        </p:nvSpPr>
        <p:spPr>
          <a:xfrm>
            <a:off x="2681358" y="7605691"/>
            <a:ext cx="9383692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Student Name –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S. Uday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kiran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(192311185)</a:t>
            </a:r>
          </a:p>
          <a:p>
            <a:pPr marL="0" indent="0">
              <a:buSzPts val="4500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– Vedvyass M (192324267)</a:t>
            </a:r>
          </a:p>
          <a:p>
            <a:pPr marL="0" indent="0">
              <a:buSzPts val="4500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–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P.Sonu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(192365057)</a:t>
            </a:r>
          </a:p>
          <a:p>
            <a:pPr marL="0" indent="0">
              <a:buSzPts val="4500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g36bc379c7b1_0_551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5" name="Google Shape;95;g36bc379c7b1_0_551"/>
          <p:cNvSpPr txBox="1"/>
          <p:nvPr/>
        </p:nvSpPr>
        <p:spPr>
          <a:xfrm>
            <a:off x="1206498" y="1280071"/>
            <a:ext cx="21971100" cy="255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SzPts val="6032"/>
              <a:buFont typeface="Helvetica Neue"/>
              <a:buNone/>
            </a:pPr>
            <a:r>
              <a:rPr lang="en-US" sz="54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SIMATS ENGINEERING</a:t>
            </a:r>
            <a:br>
              <a:rPr lang="en-US" sz="54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54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Saveetha Institute of Medical and Technical Sciences</a:t>
            </a:r>
            <a:br>
              <a:rPr lang="en-US" sz="54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r>
              <a:rPr lang="en-US" sz="54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Chennai-602105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bc379c7b1_0_560"/>
          <p:cNvSpPr txBox="1">
            <a:spLocks noGrp="1"/>
          </p:cNvSpPr>
          <p:nvPr>
            <p:ph type="title"/>
          </p:nvPr>
        </p:nvSpPr>
        <p:spPr>
          <a:xfrm>
            <a:off x="8965096" y="1391478"/>
            <a:ext cx="14212504" cy="1121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g36bc379c7b1_0_560"/>
          <p:cNvSpPr txBox="1">
            <a:spLocks noGrp="1"/>
          </p:cNvSpPr>
          <p:nvPr>
            <p:ph type="body" idx="2"/>
          </p:nvPr>
        </p:nvSpPr>
        <p:spPr>
          <a:xfrm>
            <a:off x="1252330" y="3578086"/>
            <a:ext cx="20156557" cy="799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Campus Lost &amp; Found Portal is a Java-based application designed to manage lost and found items within a college campus.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staff can report lost items and register items they have found.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item details such as name, category, location, date, description, and contact information.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search and filter reported items to identify possible matches.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verify reports, manage users, and monitor item recovery.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the dependency on physical notices, WhatsApp groups, and manual searching. </a:t>
            </a:r>
          </a:p>
          <a:p>
            <a:pPr marL="0" indent="0" algn="just">
              <a:spcBef>
                <a:spcPts val="0"/>
              </a:spcBef>
              <a:buSzPts val="5904"/>
              <a:buNone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g36bc379c7b1_0_560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bc379c7b1_0_566"/>
          <p:cNvSpPr txBox="1">
            <a:spLocks noGrp="1"/>
          </p:cNvSpPr>
          <p:nvPr>
            <p:ph type="title"/>
          </p:nvPr>
        </p:nvSpPr>
        <p:spPr>
          <a:xfrm>
            <a:off x="9104242" y="1079500"/>
            <a:ext cx="14073357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5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Problem Statement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g36bc379c7b1_0_566"/>
          <p:cNvSpPr txBox="1">
            <a:spLocks noGrp="1"/>
          </p:cNvSpPr>
          <p:nvPr>
            <p:ph type="body" idx="2"/>
          </p:nvPr>
        </p:nvSpPr>
        <p:spPr>
          <a:xfrm>
            <a:off x="1729409" y="2961860"/>
            <a:ext cx="18301956" cy="7553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 items on campus are often reported through informal channels such as WhatsApp groups or notice boards.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to record and track lost and found belongings.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find it difficult to identify whether their lost item has been recovered.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management can result in duplicate, outdated, or incomplete information.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centralized, searchable, and secure platform to improve the recovery process.</a:t>
            </a:r>
          </a:p>
          <a:p>
            <a:pPr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Arial" panose="020B0604020202020204" pitchFamily="34" charset="0"/>
              <a:buChar char="•"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g36bc379c7b1_0_566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bc379c7b1_0_572"/>
          <p:cNvSpPr txBox="1">
            <a:spLocks noGrp="1"/>
          </p:cNvSpPr>
          <p:nvPr>
            <p:ph type="title"/>
          </p:nvPr>
        </p:nvSpPr>
        <p:spPr>
          <a:xfrm>
            <a:off x="8925339" y="1079500"/>
            <a:ext cx="14252261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54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Objectives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g36bc379c7b1_0_572"/>
          <p:cNvSpPr txBox="1">
            <a:spLocks noGrp="1"/>
          </p:cNvSpPr>
          <p:nvPr>
            <p:ph type="body" idx="2"/>
          </p:nvPr>
        </p:nvSpPr>
        <p:spPr>
          <a:xfrm>
            <a:off x="1321000" y="3088556"/>
            <a:ext cx="19670443" cy="954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portal for reporting lost and found items.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users to easily register, search, and track items.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item matching based on details such as category, location, date, and description.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administrators to verify and manage submitted reports.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 database of lost and found items.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chances of returning lost belongings to their rightful owners.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effort and communication gaps.</a:t>
            </a:r>
          </a:p>
          <a:p>
            <a:pPr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Arial" panose="020B0604020202020204" pitchFamily="34" charset="0"/>
              <a:buChar char="•"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g36bc379c7b1_0_572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bc379c7b1_0_578"/>
          <p:cNvSpPr txBox="1">
            <a:spLocks noGrp="1"/>
          </p:cNvSpPr>
          <p:nvPr>
            <p:ph type="title"/>
          </p:nvPr>
        </p:nvSpPr>
        <p:spPr>
          <a:xfrm>
            <a:off x="7127630" y="1079500"/>
            <a:ext cx="16049969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5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System Architecture / Workflow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g36bc379c7b1_0_578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C76E42-0442-1D04-44B4-25473A480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357" y="251260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bc379c7b1_0_584"/>
          <p:cNvSpPr txBox="1">
            <a:spLocks noGrp="1"/>
          </p:cNvSpPr>
          <p:nvPr>
            <p:ph type="title"/>
          </p:nvPr>
        </p:nvSpPr>
        <p:spPr>
          <a:xfrm>
            <a:off x="9382540" y="954157"/>
            <a:ext cx="13795060" cy="1558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5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Module 1 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g36bc379c7b1_0_584"/>
          <p:cNvSpPr txBox="1">
            <a:spLocks noGrp="1"/>
          </p:cNvSpPr>
          <p:nvPr>
            <p:ph type="body" idx="2"/>
          </p:nvPr>
        </p:nvSpPr>
        <p:spPr>
          <a:xfrm>
            <a:off x="417443" y="2512600"/>
            <a:ext cx="22633157" cy="993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88011" lvl="0" indent="0" algn="just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&amp; Authentication Management: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students, faculty, and staff to register on the Lost &amp; Found Portal.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login and logout functionality.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 details such as name, ID, email, department, and contact information.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role-based access for users and administrators.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view and update their profiles.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password management and basic authentication security.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view and manage their previously submitted reports.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users from accessing restricted system functions.</a:t>
            </a:r>
          </a:p>
          <a:p>
            <a:pPr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Arial" panose="020B0604020202020204" pitchFamily="34" charset="0"/>
              <a:buChar char="•"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g36bc379c7b1_0_584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30E1B8-5D08-4B4C-EB4B-25FE77E56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7627" y="4227742"/>
            <a:ext cx="8537712" cy="56918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E786DD2-20BE-7561-A35C-5D4E955F4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bc379c7b1_0_584">
            <a:extLst>
              <a:ext uri="{FF2B5EF4-FFF2-40B4-BE49-F238E27FC236}">
                <a16:creationId xmlns:a16="http://schemas.microsoft.com/office/drawing/2014/main" id="{AF94284B-79D7-2AA1-58D3-CE0030F06C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6818" y="1570383"/>
            <a:ext cx="13795060" cy="1558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5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Module 1 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g36bc379c7b1_0_584">
            <a:extLst>
              <a:ext uri="{FF2B5EF4-FFF2-40B4-BE49-F238E27FC236}">
                <a16:creationId xmlns:a16="http://schemas.microsoft.com/office/drawing/2014/main" id="{4D11F599-9135-5597-1B8A-C1BC1F157CE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769165" y="2512600"/>
            <a:ext cx="12872231" cy="993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88011" lvl="0" indent="0" algn="just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&amp; Authentication Management:</a:t>
            </a:r>
          </a:p>
          <a:p>
            <a:pPr algn="just">
              <a:lnSpc>
                <a:spcPct val="150000"/>
              </a:lnSpc>
              <a:buSzPct val="80000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spcBef>
                <a:spcPts val="0"/>
              </a:spcBef>
              <a:buSzPct val="800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User chooses to create a new account.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SzPct val="800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Form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User enters name, ID, email, password, department, and contact details.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SzPct val="800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Servlet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Receives the registration data from the form.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SzPct val="800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IN" sz="3200" b="1" dirty="0">
                <a:latin typeface="Helvetica Neue" panose="020B0604020202020204" charset="0"/>
                <a:cs typeface="Times New Roman" panose="02020603050405020304" pitchFamily="18" charset="0"/>
              </a:rPr>
              <a:t>lidate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Java checks whether the entered information is correct and complete.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SzPct val="800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Connects the Java application to the MySQL database.</a:t>
            </a:r>
          </a:p>
          <a:p>
            <a:pPr indent="-457200">
              <a:lnSpc>
                <a:spcPct val="150000"/>
              </a:lnSpc>
              <a:spcBef>
                <a:spcPts val="0"/>
              </a:spcBef>
              <a:buSzPct val="800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users table → Valid user details are stored in the users table.</a:t>
            </a:r>
          </a:p>
          <a:p>
            <a:pPr marL="0" lvl="0" indent="0" algn="ctr">
              <a:spcBef>
                <a:spcPts val="0"/>
              </a:spcBef>
              <a:buSzPts val="5904"/>
              <a:buNone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g36bc379c7b1_0_584">
            <a:extLst>
              <a:ext uri="{FF2B5EF4-FFF2-40B4-BE49-F238E27FC236}">
                <a16:creationId xmlns:a16="http://schemas.microsoft.com/office/drawing/2014/main" id="{2EC9FCD8-580F-C7B5-B5F0-EAA8D34FAF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" name="Google Shape;129;g36bc379c7b1_0_584">
            <a:extLst>
              <a:ext uri="{FF2B5EF4-FFF2-40B4-BE49-F238E27FC236}">
                <a16:creationId xmlns:a16="http://schemas.microsoft.com/office/drawing/2014/main" id="{833ADEF4-9242-DC20-A40D-1EBCC6318B6C}"/>
              </a:ext>
            </a:extLst>
          </p:cNvPr>
          <p:cNvSpPr txBox="1">
            <a:spLocks/>
          </p:cNvSpPr>
          <p:nvPr/>
        </p:nvSpPr>
        <p:spPr>
          <a:xfrm>
            <a:off x="13795512" y="4071043"/>
            <a:ext cx="12091053" cy="993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algn="ctr">
              <a:spcBef>
                <a:spcPts val="0"/>
              </a:spcBef>
              <a:buSzPts val="5904"/>
              <a:buFont typeface="Helvetica Neue"/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</a:p>
          <a:p>
            <a:pPr marL="0" indent="0" algn="ctr">
              <a:spcBef>
                <a:spcPts val="0"/>
              </a:spcBef>
              <a:buSzPts val="5904"/>
              <a:buFont typeface="Helvetica Neue"/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spcBef>
                <a:spcPts val="0"/>
              </a:spcBef>
              <a:buSzPts val="5904"/>
              <a:buFont typeface="Helvetica Neue"/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Form</a:t>
            </a:r>
          </a:p>
          <a:p>
            <a:pPr marL="0" indent="0" algn="ctr">
              <a:spcBef>
                <a:spcPts val="0"/>
              </a:spcBef>
              <a:buSzPts val="5904"/>
              <a:buFont typeface="Helvetica Neue"/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spcBef>
                <a:spcPts val="0"/>
              </a:spcBef>
              <a:buSzPts val="5904"/>
              <a:buFont typeface="Helvetica Neue"/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Servlet</a:t>
            </a:r>
          </a:p>
          <a:p>
            <a:pPr marL="0" indent="0" algn="ctr">
              <a:spcBef>
                <a:spcPts val="0"/>
              </a:spcBef>
              <a:buSzPts val="5904"/>
              <a:buFont typeface="Helvetica Neue"/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spcBef>
                <a:spcPts val="0"/>
              </a:spcBef>
              <a:buSzPts val="5904"/>
              <a:buFont typeface="Helvetica Neue"/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Details</a:t>
            </a:r>
          </a:p>
          <a:p>
            <a:pPr marL="0" indent="0" algn="ctr">
              <a:spcBef>
                <a:spcPts val="0"/>
              </a:spcBef>
              <a:buSzPts val="5904"/>
              <a:buFont typeface="Helvetica Neue"/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spcBef>
                <a:spcPts val="0"/>
              </a:spcBef>
              <a:buSzPts val="5904"/>
              <a:buFont typeface="Helvetica Neue"/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  <a:p>
            <a:pPr marL="0" indent="0" algn="ctr">
              <a:spcBef>
                <a:spcPts val="0"/>
              </a:spcBef>
              <a:buSzPts val="5904"/>
              <a:buFont typeface="Helvetica Neue"/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spcBef>
                <a:spcPts val="0"/>
              </a:spcBef>
              <a:buSzPts val="5904"/>
              <a:buFont typeface="Helvetica Neue"/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→ users table</a:t>
            </a:r>
          </a:p>
          <a:p>
            <a:pPr marL="0" indent="0" algn="ctr">
              <a:spcBef>
                <a:spcPts val="0"/>
              </a:spcBef>
              <a:buSzPts val="5904"/>
              <a:buFont typeface="Helvetica Neue"/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Bef>
                <a:spcPts val="0"/>
              </a:spcBef>
              <a:buSzPts val="5904"/>
              <a:buFont typeface="Helvetica Neue"/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640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E786DD2-20BE-7561-A35C-5D4E955F4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bc379c7b1_0_584">
            <a:extLst>
              <a:ext uri="{FF2B5EF4-FFF2-40B4-BE49-F238E27FC236}">
                <a16:creationId xmlns:a16="http://schemas.microsoft.com/office/drawing/2014/main" id="{AF94284B-79D7-2AA1-58D3-CE0030F06C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6818" y="1570383"/>
            <a:ext cx="13795060" cy="1558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5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Module 1 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g36bc379c7b1_0_584">
            <a:extLst>
              <a:ext uri="{FF2B5EF4-FFF2-40B4-BE49-F238E27FC236}">
                <a16:creationId xmlns:a16="http://schemas.microsoft.com/office/drawing/2014/main" id="{4D11F599-9135-5597-1B8A-C1BC1F157CE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769165" y="2512600"/>
            <a:ext cx="21360999" cy="993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88011" lvl="0" indent="0" algn="just">
              <a:lnSpc>
                <a:spcPct val="100000"/>
              </a:lnSpc>
              <a:spcBef>
                <a:spcPts val="1200"/>
              </a:spcBef>
              <a:buNone/>
            </a:pP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Techinique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: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SzPct val="80000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 Connector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Direct connection to H2 database using `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DriverManager.getConnection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()`\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SzPct val="80000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Variables and Data Types :</a:t>
            </a:r>
          </a:p>
          <a:p>
            <a:pPr marL="88011" indent="0" algn="just">
              <a:lnSpc>
                <a:spcPct val="100000"/>
              </a:lnSpc>
              <a:spcBef>
                <a:spcPts val="1200"/>
              </a:spcBef>
              <a:buSzPct val="80000"/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static final String URL = "jdbc:h2:file:./data/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lostfound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;...";</a:t>
            </a:r>
          </a:p>
          <a:p>
            <a:pPr marL="88011" indent="0" algn="just">
              <a:lnSpc>
                <a:spcPct val="100000"/>
              </a:lnSpc>
              <a:spcBef>
                <a:spcPts val="1200"/>
              </a:spcBef>
              <a:buSzPct val="80000"/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static final String USER = "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88011" indent="0" algn="just">
              <a:lnSpc>
                <a:spcPct val="100000"/>
              </a:lnSpc>
              <a:spcBef>
                <a:spcPts val="1200"/>
              </a:spcBef>
              <a:buSzPct val="80000"/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int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claimId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// int type</a:t>
            </a:r>
          </a:p>
          <a:p>
            <a:pPr marL="88011" indent="0" algn="just">
              <a:lnSpc>
                <a:spcPct val="100000"/>
              </a:lnSpc>
              <a:spcBef>
                <a:spcPts val="1200"/>
              </a:spcBef>
              <a:buSzPct val="80000"/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String status;        // String type</a:t>
            </a:r>
          </a:p>
          <a:p>
            <a:pPr marL="88011" indent="0" algn="just">
              <a:lnSpc>
                <a:spcPct val="100000"/>
              </a:lnSpc>
              <a:spcBef>
                <a:spcPts val="1200"/>
              </a:spcBef>
              <a:buSzPct val="80000"/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&lt;Claim&gt; claims;  // Reference type</a:t>
            </a:r>
          </a:p>
          <a:p>
            <a:pPr marL="88011" indent="0" algn="just">
              <a:lnSpc>
                <a:spcPct val="100000"/>
              </a:lnSpc>
              <a:spcBef>
                <a:spcPts val="1200"/>
              </a:spcBef>
              <a:buSzPct val="80000"/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Declares different data types: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`String`, `int`, `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``final` keyword for constants that cannot be changed `static` keyword for class-level variables shared across all instances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buSzPct val="80000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Exception Handling (Try-Catch)</a:t>
            </a:r>
          </a:p>
          <a:p>
            <a:pPr marL="88011" indent="0" algn="just">
              <a:lnSpc>
                <a:spcPct val="100000"/>
              </a:lnSpc>
              <a:spcBef>
                <a:spcPts val="1200"/>
              </a:spcBef>
              <a:buSzPct val="80000"/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(Connection conn =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DatabaseConfig.getConnection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88011" indent="0" algn="just">
              <a:lnSpc>
                <a:spcPct val="100000"/>
              </a:lnSpc>
              <a:spcBef>
                <a:spcPts val="1200"/>
              </a:spcBef>
              <a:buSzPct val="80000"/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PreparedStatement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conn.prepareStatement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{</a:t>
            </a:r>
          </a:p>
          <a:p>
            <a:pPr marL="88011" indent="0" algn="just">
              <a:lnSpc>
                <a:spcPct val="100000"/>
              </a:lnSpc>
              <a:spcBef>
                <a:spcPts val="1200"/>
              </a:spcBef>
              <a:buSzPct val="80000"/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Database operations</a:t>
            </a:r>
          </a:p>
          <a:p>
            <a:pPr marL="88011" indent="0" algn="just">
              <a:lnSpc>
                <a:spcPct val="100000"/>
              </a:lnSpc>
              <a:spcBef>
                <a:spcPts val="1200"/>
              </a:spcBef>
              <a:buSzPct val="80000"/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catch 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SQLException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e) {</a:t>
            </a:r>
          </a:p>
          <a:p>
            <a:pPr marL="88011" indent="0" algn="just">
              <a:lnSpc>
                <a:spcPct val="100000"/>
              </a:lnSpc>
              <a:spcBef>
                <a:spcPts val="1200"/>
              </a:spcBef>
              <a:buSzPct val="80000"/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e.printStackTrace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88011" indent="0" algn="just">
              <a:lnSpc>
                <a:spcPct val="100000"/>
              </a:lnSpc>
              <a:spcBef>
                <a:spcPts val="1200"/>
              </a:spcBef>
              <a:buSzPct val="80000"/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false;</a:t>
            </a:r>
          </a:p>
          <a:p>
            <a:pPr marL="88011" indent="0" algn="just">
              <a:lnSpc>
                <a:spcPct val="100000"/>
              </a:lnSpc>
              <a:spcBef>
                <a:spcPts val="1200"/>
              </a:spcBef>
              <a:buSzPct val="80000"/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lnSpc>
                <a:spcPct val="150000"/>
              </a:lnSpc>
              <a:buSzPct val="80000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spcBef>
                <a:spcPts val="0"/>
              </a:spcBef>
              <a:buSzPts val="5904"/>
              <a:buNone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g36bc379c7b1_0_584">
            <a:extLst>
              <a:ext uri="{FF2B5EF4-FFF2-40B4-BE49-F238E27FC236}">
                <a16:creationId xmlns:a16="http://schemas.microsoft.com/office/drawing/2014/main" id="{2EC9FCD8-580F-C7B5-B5F0-EAA8D34FAF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42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047C9DF2-9261-6F44-07AE-CB7BBA498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bc379c7b1_0_596">
            <a:extLst>
              <a:ext uri="{FF2B5EF4-FFF2-40B4-BE49-F238E27FC236}">
                <a16:creationId xmlns:a16="http://schemas.microsoft.com/office/drawing/2014/main" id="{8054FFE1-5109-1BB5-4EB5-FDCC4C53EF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43392" y="1411357"/>
            <a:ext cx="14252260" cy="151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65"/>
              <a:buFont typeface="Helvetica Neue"/>
              <a:buNone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Google Shape;144;g36bc379c7b1_0_596">
            <a:extLst>
              <a:ext uri="{FF2B5EF4-FFF2-40B4-BE49-F238E27FC236}">
                <a16:creationId xmlns:a16="http://schemas.microsoft.com/office/drawing/2014/main" id="{E797D1A3-3D84-7C4A-85CB-D2FC3ECB42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F7F342-AB5D-CC5F-69B6-3440CD229D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07" r="34013"/>
          <a:stretch>
            <a:fillRect/>
          </a:stretch>
        </p:blipFill>
        <p:spPr>
          <a:xfrm>
            <a:off x="1232452" y="2930044"/>
            <a:ext cx="6679095" cy="9560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5188D1-4366-5D73-0387-C24BC5132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629" y="3221950"/>
            <a:ext cx="8256342" cy="89770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43563F-5E92-2946-3D45-03E4B19880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9522" y="2170700"/>
            <a:ext cx="7640231" cy="1117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34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bc379c7b1_0_590"/>
          <p:cNvSpPr txBox="1">
            <a:spLocks noGrp="1"/>
          </p:cNvSpPr>
          <p:nvPr>
            <p:ph type="title"/>
          </p:nvPr>
        </p:nvSpPr>
        <p:spPr>
          <a:xfrm>
            <a:off x="9243392" y="1053548"/>
            <a:ext cx="13934208" cy="1459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5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Module 2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Google Shape;136;g36bc379c7b1_0_590"/>
          <p:cNvSpPr txBox="1">
            <a:spLocks noGrp="1"/>
          </p:cNvSpPr>
          <p:nvPr>
            <p:ph type="body" idx="2"/>
          </p:nvPr>
        </p:nvSpPr>
        <p:spPr>
          <a:xfrm>
            <a:off x="218661" y="2185140"/>
            <a:ext cx="22829549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88011" indent="0" algn="just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 &amp; Found Item Management: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report lost items by entering complete item details.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register found items discovered anywhere on campus.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details such as item name, category,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description, date, and location.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image uploading to make item identification easier.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search and filter options based on category, location, date, and keywords.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update or delete their submitted item reports.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item statuses such as Lost, Found, Claimed, and Returned.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administrators to review, verify, and manage reported items.</a:t>
            </a:r>
          </a:p>
          <a:p>
            <a:pPr marL="609600" lvl="0" indent="-609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Google Shape;137;g36bc379c7b1_0_590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65A5A1-FFB4-1FFA-C9C3-F1E753631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6347" y="4664766"/>
            <a:ext cx="8358808" cy="55725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4B8C88D2-7A44-63D7-E69B-CDB058764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bc379c7b1_0_590">
            <a:extLst>
              <a:ext uri="{FF2B5EF4-FFF2-40B4-BE49-F238E27FC236}">
                <a16:creationId xmlns:a16="http://schemas.microsoft.com/office/drawing/2014/main" id="{702EA35A-BB2D-536C-777E-C81BEAE7CC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16209" y="1059479"/>
            <a:ext cx="13934208" cy="1459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5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Module 2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Google Shape;136;g36bc379c7b1_0_590">
            <a:extLst>
              <a:ext uri="{FF2B5EF4-FFF2-40B4-BE49-F238E27FC236}">
                <a16:creationId xmlns:a16="http://schemas.microsoft.com/office/drawing/2014/main" id="{DF21B4CA-AD98-EF85-A16D-1761BD16171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925445" y="2456422"/>
            <a:ext cx="14255459" cy="11658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88011" indent="0" algn="just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 &amp; Found Item Management:</a:t>
            </a:r>
          </a:p>
          <a:p>
            <a:pPr marL="88011" indent="0" algn="just"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b="1" dirty="0"/>
              <a:t>Image Upload</a:t>
            </a:r>
            <a:r>
              <a:rPr lang="en-IN" sz="3200" dirty="0"/>
              <a:t> → Saves an item image so users and administrators can identify it easily. </a:t>
            </a:r>
          </a:p>
          <a:p>
            <a:pPr lvl="0"/>
            <a:r>
              <a:rPr lang="en-IN" sz="3200" b="1" dirty="0"/>
              <a:t>Search &amp; Filter</a:t>
            </a:r>
            <a:r>
              <a:rPr lang="en-IN" sz="3200" dirty="0"/>
              <a:t> → Allows users to find items using category, location, date, or keywords. </a:t>
            </a:r>
          </a:p>
          <a:p>
            <a:pPr lvl="0"/>
            <a:r>
              <a:rPr lang="en-IN" sz="3200" b="1" dirty="0"/>
              <a:t>Update / Delete Report</a:t>
            </a:r>
            <a:r>
              <a:rPr lang="en-IN" sz="3200" dirty="0"/>
              <a:t> → Allows users to modify or remove their own submitted reports. </a:t>
            </a:r>
          </a:p>
          <a:p>
            <a:pPr lvl="0"/>
            <a:r>
              <a:rPr lang="en-IN" sz="3200" b="1" dirty="0"/>
              <a:t>Item Status Management</a:t>
            </a:r>
            <a:r>
              <a:rPr lang="en-IN" sz="3200" dirty="0"/>
              <a:t> → Maintains statuses such as </a:t>
            </a:r>
            <a:r>
              <a:rPr lang="en-IN" sz="3200" b="1" dirty="0"/>
              <a:t>Lost, Found, Claimed, and Returned</a:t>
            </a:r>
            <a:r>
              <a:rPr lang="en-IN" sz="3200" dirty="0"/>
              <a:t>. </a:t>
            </a:r>
          </a:p>
          <a:p>
            <a:pPr lvl="0"/>
            <a:r>
              <a:rPr lang="en-IN" sz="3200" b="1" dirty="0"/>
              <a:t>Admin Review &amp; Verification</a:t>
            </a:r>
            <a:r>
              <a:rPr lang="en-IN" sz="3200" dirty="0"/>
              <a:t> → Allows administrators to verify reports and manage inappropriate or incorrect listings.</a:t>
            </a:r>
          </a:p>
          <a:p>
            <a:pPr marL="88011" indent="0" algn="just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" indent="0" algn="ctr">
              <a:lnSpc>
                <a:spcPct val="5000"/>
              </a:lnSpc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" indent="0" algn="ctr">
              <a:lnSpc>
                <a:spcPct val="5000"/>
              </a:lnSpc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" indent="0" algn="ctr">
              <a:lnSpc>
                <a:spcPct val="5000"/>
              </a:lnSpc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Google Shape;137;g36bc379c7b1_0_590">
            <a:extLst>
              <a:ext uri="{FF2B5EF4-FFF2-40B4-BE49-F238E27FC236}">
                <a16:creationId xmlns:a16="http://schemas.microsoft.com/office/drawing/2014/main" id="{B23205A5-A880-A7AB-6094-F020CB2CBF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FD77B-B932-4B87-AFD3-64EAE72BD79D}"/>
              </a:ext>
            </a:extLst>
          </p:cNvPr>
          <p:cNvSpPr txBox="1"/>
          <p:nvPr/>
        </p:nvSpPr>
        <p:spPr>
          <a:xfrm>
            <a:off x="10416209" y="3558209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" name="Google Shape;136;g36bc379c7b1_0_590">
            <a:extLst>
              <a:ext uri="{FF2B5EF4-FFF2-40B4-BE49-F238E27FC236}">
                <a16:creationId xmlns:a16="http://schemas.microsoft.com/office/drawing/2014/main" id="{86146980-91ED-CA19-2B60-4732D45B0BAA}"/>
              </a:ext>
            </a:extLst>
          </p:cNvPr>
          <p:cNvSpPr txBox="1">
            <a:spLocks/>
          </p:cNvSpPr>
          <p:nvPr/>
        </p:nvSpPr>
        <p:spPr>
          <a:xfrm>
            <a:off x="9724171" y="2456422"/>
            <a:ext cx="20762210" cy="1263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69189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88011" indent="0" algn="just">
              <a:buFont typeface="Helvetica Neue"/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→ items table</a:t>
            </a: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Upload</a:t>
            </a: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Filter</a:t>
            </a: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/ Delete Report</a:t>
            </a: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Status Management</a:t>
            </a: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Review &amp; Verification</a:t>
            </a: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" indent="0" algn="ctr">
              <a:lnSpc>
                <a:spcPct val="5000"/>
              </a:lnSpc>
              <a:buFont typeface="Helvetica Neue"/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797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E786DD2-20BE-7561-A35C-5D4E955F4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bc379c7b1_0_584">
            <a:extLst>
              <a:ext uri="{FF2B5EF4-FFF2-40B4-BE49-F238E27FC236}">
                <a16:creationId xmlns:a16="http://schemas.microsoft.com/office/drawing/2014/main" id="{AF94284B-79D7-2AA1-58D3-CE0030F06C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6818" y="1570383"/>
            <a:ext cx="13795060" cy="1558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5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Module 2 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g36bc379c7b1_0_584">
            <a:extLst>
              <a:ext uri="{FF2B5EF4-FFF2-40B4-BE49-F238E27FC236}">
                <a16:creationId xmlns:a16="http://schemas.microsoft.com/office/drawing/2014/main" id="{4D11F599-9135-5597-1B8A-C1BC1F157CE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769165" y="2512600"/>
            <a:ext cx="21360999" cy="993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88011" lv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Techinique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:</a:t>
            </a:r>
          </a:p>
          <a:p>
            <a:pPr marL="88011" lvl="0" indent="0" algn="just">
              <a:lnSpc>
                <a:spcPct val="100000"/>
              </a:lnSpc>
              <a:spcBef>
                <a:spcPts val="600"/>
              </a:spcBef>
              <a:buNone/>
            </a:pP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 - Organized code structure (`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com.lostfound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.*`)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 - Servlets extending `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HttpServlet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class.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Object Creation using Constructor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User(name, email, password, department, phone, "USER");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Constructor with parameters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User {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User() {}  // No-argument constructor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User(String name, String email, String password, ...) {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this.name = name;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this.email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email;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Initialize all fields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spcBef>
                <a:spcPts val="0"/>
              </a:spcBef>
              <a:buSzPts val="5904"/>
              <a:buNone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g36bc379c7b1_0_584">
            <a:extLst>
              <a:ext uri="{FF2B5EF4-FFF2-40B4-BE49-F238E27FC236}">
                <a16:creationId xmlns:a16="http://schemas.microsoft.com/office/drawing/2014/main" id="{2EC9FCD8-580F-C7B5-B5F0-EAA8D34FAF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8445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bc379c7b1_0_596"/>
          <p:cNvSpPr txBox="1">
            <a:spLocks noGrp="1"/>
          </p:cNvSpPr>
          <p:nvPr>
            <p:ph type="title"/>
          </p:nvPr>
        </p:nvSpPr>
        <p:spPr>
          <a:xfrm>
            <a:off x="8925340" y="993913"/>
            <a:ext cx="14252260" cy="151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65"/>
              <a:buFont typeface="Helvetica Neue"/>
              <a:buNone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Google Shape;143;g36bc379c7b1_0_596"/>
          <p:cNvSpPr txBox="1">
            <a:spLocks noGrp="1"/>
          </p:cNvSpPr>
          <p:nvPr>
            <p:ph type="body" idx="2"/>
          </p:nvPr>
        </p:nvSpPr>
        <p:spPr>
          <a:xfrm>
            <a:off x="298174" y="2076804"/>
            <a:ext cx="22752426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88011" indent="0" algn="just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Matching, Claim &amp; Recovery Management: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lost and found item details to identify potential matches.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items using information such as category, name,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location, and description.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possible matching items to users.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submit a claim request for a matching found item.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additional information from the claimant for ownership verification.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administrators to review and approve or reject claim requests.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the item status after successful verification and recovery.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 claim and recovery history for tracking completed transactions.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None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Google Shape;144;g36bc379c7b1_0_596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0485CC-4720-012C-702D-F71E5894C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2887" y="5887753"/>
            <a:ext cx="8909719" cy="59398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E786DD2-20BE-7561-A35C-5D4E955F4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bc379c7b1_0_584">
            <a:extLst>
              <a:ext uri="{FF2B5EF4-FFF2-40B4-BE49-F238E27FC236}">
                <a16:creationId xmlns:a16="http://schemas.microsoft.com/office/drawing/2014/main" id="{AF94284B-79D7-2AA1-58D3-CE0030F06C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16818" y="1570383"/>
            <a:ext cx="13795060" cy="1558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5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Module 3 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g36bc379c7b1_0_584">
            <a:extLst>
              <a:ext uri="{FF2B5EF4-FFF2-40B4-BE49-F238E27FC236}">
                <a16:creationId xmlns:a16="http://schemas.microsoft.com/office/drawing/2014/main" id="{4D11F599-9135-5597-1B8A-C1BC1F157CE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769165" y="2512600"/>
            <a:ext cx="21360999" cy="993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88011" lvl="0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Techinique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:</a:t>
            </a:r>
          </a:p>
          <a:p>
            <a:pPr marL="88011" lvl="0" indent="0" algn="just">
              <a:lnSpc>
                <a:spcPct val="100000"/>
              </a:lnSpc>
              <a:spcBef>
                <a:spcPts val="600"/>
              </a:spcBef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Framework (List)** - `List&lt;Claim&gt;` and `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&lt;Claim&gt;` for storing multiple claims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2361" indent="-514350" algn="just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Declaration and Initialization: </a:t>
            </a:r>
          </a:p>
          <a:p>
            <a:pPr marL="602361" indent="-514350" algn="just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List&lt;Claim&gt; claims = new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&lt;&gt;();  // Declare and initialize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claimId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Integer.parseInt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request.getParameter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claimId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"));  // Convert to int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decision = "APPROVED".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equalsIgnoreCase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request.getParameter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("decision")) ? "APPROVED" : "REJECTED";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Variable declaration: `Type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variableName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;`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Initialization: `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variableName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Type();`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Ternary operator: `condition ?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valueIfTrue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valueIfFalse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</a:p>
          <a:p>
            <a:pPr marL="88011" indent="0" algn="just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Type conversion: `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Integer.parseInt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()` converts String to int</a:t>
            </a:r>
          </a:p>
          <a:p>
            <a:pPr marL="0" lvl="0" indent="0" algn="ctr">
              <a:spcBef>
                <a:spcPts val="0"/>
              </a:spcBef>
              <a:buSzPts val="5904"/>
              <a:buNone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g36bc379c7b1_0_584">
            <a:extLst>
              <a:ext uri="{FF2B5EF4-FFF2-40B4-BE49-F238E27FC236}">
                <a16:creationId xmlns:a16="http://schemas.microsoft.com/office/drawing/2014/main" id="{2EC9FCD8-580F-C7B5-B5F0-EAA8D34FAF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5900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AFEF9E30-E6E0-9AD2-64C0-BD70027D2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bc379c7b1_0_596">
            <a:extLst>
              <a:ext uri="{FF2B5EF4-FFF2-40B4-BE49-F238E27FC236}">
                <a16:creationId xmlns:a16="http://schemas.microsoft.com/office/drawing/2014/main" id="{337D4849-DB61-2916-AFBF-AF7E46F926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43392" y="1411357"/>
            <a:ext cx="14252260" cy="151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65"/>
              <a:buFont typeface="Helvetica Neue"/>
              <a:buNone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Google Shape;144;g36bc379c7b1_0_596">
            <a:extLst>
              <a:ext uri="{FF2B5EF4-FFF2-40B4-BE49-F238E27FC236}">
                <a16:creationId xmlns:a16="http://schemas.microsoft.com/office/drawing/2014/main" id="{87FF52DB-5746-8CEF-10A0-1B1F3E30C2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FFC6F8-CF26-1638-7F4C-78B0E6EF0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41" y="4818479"/>
            <a:ext cx="11708809" cy="5239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53534F-071F-DB94-32CB-688E13FA5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6550" y="4760141"/>
            <a:ext cx="11887666" cy="535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17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bc379c7b1_0_626"/>
          <p:cNvSpPr txBox="1">
            <a:spLocks noGrp="1"/>
          </p:cNvSpPr>
          <p:nvPr>
            <p:ph type="title"/>
          </p:nvPr>
        </p:nvSpPr>
        <p:spPr>
          <a:xfrm>
            <a:off x="9780104" y="1073426"/>
            <a:ext cx="12980051" cy="1834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5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Conclusion 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Google Shape;178;g36bc379c7b1_0_626"/>
          <p:cNvSpPr txBox="1">
            <a:spLocks noGrp="1"/>
          </p:cNvSpPr>
          <p:nvPr>
            <p:ph type="body" idx="2"/>
          </p:nvPr>
        </p:nvSpPr>
        <p:spPr>
          <a:xfrm>
            <a:off x="2286000" y="2191104"/>
            <a:ext cx="17651896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Campus Lost &amp; Found Portal provides a centralized solution for managing lost and found belongings.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reporting and searching for items faster and easier.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matching and claim system improves the possibility of returning items to their rightful owners.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provides a suitable platform for implementing the application's business logic and database connectivity.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further enhanced with AI, mobile applications, notifications, and cloud technologies. 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helps create a more organized, efficient, and reliable campus item recovery system.</a:t>
            </a:r>
          </a:p>
          <a:p>
            <a:pPr marL="88011" indent="0" algn="just">
              <a:buNone/>
            </a:pPr>
            <a:endParaRPr sz="36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79" name="Google Shape;179;g36bc379c7b1_0_62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bc379c7b1_0_63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A4E0C3-2C3C-280C-2EC7-436ED1297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966" y="843619"/>
            <a:ext cx="15985066" cy="12028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11A862-692D-450B-9A6E-5C9B55281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54954" y="7665826"/>
            <a:ext cx="844061" cy="87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21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bc379c7b1_0_639"/>
          <p:cNvSpPr txBox="1">
            <a:spLocks noGrp="1"/>
          </p:cNvSpPr>
          <p:nvPr>
            <p:ph type="title"/>
          </p:nvPr>
        </p:nvSpPr>
        <p:spPr>
          <a:xfrm rot="10800000" flipV="1">
            <a:off x="7136295" y="6380922"/>
            <a:ext cx="15643733" cy="188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</a:pPr>
            <a:r>
              <a:rPr lang="en-US" sz="8800" i="1" dirty="0">
                <a:latin typeface="Magneto" panose="04030805050802020D02" pitchFamily="82" charset="0"/>
                <a:cs typeface="Times New Roman" panose="02020603050405020304" pitchFamily="18" charset="0"/>
              </a:rPr>
              <a:t>THANK YOU</a:t>
            </a:r>
            <a:endParaRPr sz="8800" i="1" dirty="0">
              <a:latin typeface="Magneto" panose="04030805050802020D02" pitchFamily="82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g36bc379c7b1_0_63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1370</Words>
  <Application>Microsoft Office PowerPoint</Application>
  <PresentationFormat>Custom</PresentationFormat>
  <Paragraphs>185</Paragraphs>
  <Slides>18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Times New Roman</vt:lpstr>
      <vt:lpstr>Helvetica Neue</vt:lpstr>
      <vt:lpstr>Arial</vt:lpstr>
      <vt:lpstr>Magneto</vt:lpstr>
      <vt:lpstr>21_BasicWhite</vt:lpstr>
      <vt:lpstr>Campus Lost &amp; Found Portal: A Java-Based Item Recovery and Management System</vt:lpstr>
      <vt:lpstr>Introduction</vt:lpstr>
      <vt:lpstr>Problem Statement</vt:lpstr>
      <vt:lpstr> Objectives</vt:lpstr>
      <vt:lpstr>System Architecture / Workflow</vt:lpstr>
      <vt:lpstr>Module 1 </vt:lpstr>
      <vt:lpstr>Module 1 </vt:lpstr>
      <vt:lpstr>Module 1 </vt:lpstr>
      <vt:lpstr>OUTPUT</vt:lpstr>
      <vt:lpstr>Module 2</vt:lpstr>
      <vt:lpstr>Module 2</vt:lpstr>
      <vt:lpstr>Module 2 </vt:lpstr>
      <vt:lpstr>Module 3 </vt:lpstr>
      <vt:lpstr>Module 3 </vt:lpstr>
      <vt:lpstr>OUTPUT</vt:lpstr>
      <vt:lpstr>Conclusion 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Lost &amp; Found Portal: A Java-Based Item Recovery and Management System</dc:title>
  <dc:creator>sonu panigrahi</dc:creator>
  <cp:lastModifiedBy>Vedvyass Mohan</cp:lastModifiedBy>
  <cp:revision>10</cp:revision>
  <dcterms:modified xsi:type="dcterms:W3CDTF">2026-09-02T09:29:20Z</dcterms:modified>
</cp:coreProperties>
</file>